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6"/>
  </p:notesMasterIdLst>
  <p:handoutMasterIdLst>
    <p:handoutMasterId r:id="rId7"/>
  </p:handoutMasterIdLst>
  <p:sldIdLst>
    <p:sldId id="256" r:id="rId2"/>
    <p:sldId id="257" r:id="rId3"/>
    <p:sldId id="258" r:id="rId4"/>
    <p:sldId id="259" r:id="rId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7" roundtripDataSignature="AMtx7mhnG7pvaFQOD2rmgABAH9abBJV9U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318429B-8C33-4D49-8702-265231876635}">
  <a:tblStyle styleId="{3318429B-8C33-4D49-8702-265231876635}" styleName="Table_0">
    <a:wholeTbl>
      <a:tcTxStyle b="off" i="off">
        <a:font>
          <a:latin typeface="Arial"/>
          <a:ea typeface="Arial"/>
          <a:cs typeface="Arial"/>
        </a:font>
        <a:schemeClr val="dk1"/>
      </a:tcTxStyle>
      <a:tcStyle>
        <a:tcBdr>
          <a:left>
            <a:ln w="9525" cap="flat" cmpd="sng">
              <a:solidFill>
                <a:schemeClr val="accent5"/>
              </a:solidFill>
              <a:prstDash val="solid"/>
              <a:round/>
              <a:headEnd type="none" w="sm" len="sm"/>
              <a:tailEnd type="none" w="sm" len="sm"/>
            </a:ln>
          </a:left>
          <a:right>
            <a:ln w="9525" cap="flat" cmpd="sng">
              <a:solidFill>
                <a:schemeClr val="accent5"/>
              </a:solidFill>
              <a:prstDash val="solid"/>
              <a:round/>
              <a:headEnd type="none" w="sm" len="sm"/>
              <a:tailEnd type="none" w="sm" len="sm"/>
            </a:ln>
          </a:right>
          <a:top>
            <a:ln w="9525" cap="flat" cmpd="sng">
              <a:solidFill>
                <a:schemeClr val="accent5"/>
              </a:solidFill>
              <a:prstDash val="solid"/>
              <a:round/>
              <a:headEnd type="none" w="sm" len="sm"/>
              <a:tailEnd type="none" w="sm" len="sm"/>
            </a:ln>
          </a:top>
          <a:bottom>
            <a:ln w="9525" cap="flat" cmpd="sng">
              <a:solidFill>
                <a:schemeClr val="accent5"/>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op>
            <a:ln w="9525" cap="flat" cmpd="sng">
              <a:solidFill>
                <a:schemeClr val="accent5"/>
              </a:solidFill>
              <a:prstDash val="solid"/>
              <a:round/>
              <a:headEnd type="none" w="sm" len="sm"/>
              <a:tailEnd type="none" w="sm" len="sm"/>
            </a:ln>
          </a:top>
          <a:bottom>
            <a:ln w="9525" cap="flat" cmpd="sng">
              <a:solidFill>
                <a:schemeClr val="accent5"/>
              </a:solidFill>
              <a:prstDash val="solid"/>
              <a:round/>
              <a:headEnd type="none" w="sm" len="sm"/>
              <a:tailEnd type="none" w="sm" len="sm"/>
            </a:ln>
          </a:bottom>
        </a:tcBdr>
      </a:tcStyle>
    </a:band1H>
    <a:band2H>
      <a:tcTxStyle b="off" i="off"/>
      <a:tcStyle>
        <a:tcBdr/>
      </a:tcStyle>
    </a:band2H>
    <a:band1V>
      <a:tcTxStyle b="off" i="off"/>
      <a:tcStyle>
        <a:tcBdr>
          <a:left>
            <a:ln w="9525" cap="flat" cmpd="sng">
              <a:solidFill>
                <a:schemeClr val="accent5"/>
              </a:solidFill>
              <a:prstDash val="solid"/>
              <a:round/>
              <a:headEnd type="none" w="sm" len="sm"/>
              <a:tailEnd type="none" w="sm" len="sm"/>
            </a:ln>
          </a:left>
          <a:right>
            <a:ln w="9525" cap="flat" cmpd="sng">
              <a:solidFill>
                <a:schemeClr val="accent5"/>
              </a:solidFill>
              <a:prstDash val="solid"/>
              <a:round/>
              <a:headEnd type="none" w="sm" len="sm"/>
              <a:tailEnd type="none" w="sm" len="sm"/>
            </a:ln>
          </a:right>
        </a:tcBdr>
      </a:tcStyle>
    </a:band1V>
    <a:band2V>
      <a:tcTxStyle b="off" i="off"/>
      <a:tcStyle>
        <a:tcBdr>
          <a:left>
            <a:ln w="9525" cap="flat" cmpd="sng">
              <a:solidFill>
                <a:schemeClr val="accent5"/>
              </a:solidFill>
              <a:prstDash val="solid"/>
              <a:round/>
              <a:headEnd type="none" w="sm" len="sm"/>
              <a:tailEnd type="none" w="sm" len="sm"/>
            </a:ln>
          </a:left>
          <a:right>
            <a:ln w="9525" cap="flat" cmpd="sng">
              <a:solidFill>
                <a:schemeClr val="accent5"/>
              </a:solidFill>
              <a:prstDash val="solid"/>
              <a:round/>
              <a:headEnd type="none" w="sm" len="sm"/>
              <a:tailEnd type="none" w="sm" len="sm"/>
            </a:ln>
          </a:right>
        </a:tcBdr>
      </a:tcStyle>
    </a:band2V>
    <a:lastCol>
      <a:tcTxStyle b="on" i="off"/>
      <a:tcStyle>
        <a:tcBdr/>
      </a:tcStyle>
    </a:lastCol>
    <a:firstCol>
      <a:tcTxStyle b="on" i="off"/>
      <a:tcStyle>
        <a:tcBdr/>
      </a:tcStyle>
    </a:firstCol>
    <a:lastRow>
      <a:tcTxStyle b="on" i="off"/>
      <a:tcStyle>
        <a:tcBdr>
          <a:top>
            <a:ln w="50800" cap="flat" cmpd="sng">
              <a:solidFill>
                <a:schemeClr val="accent5"/>
              </a:solidFill>
              <a:prstDash val="solid"/>
              <a:round/>
              <a:headEnd type="none" w="sm" len="sm"/>
              <a:tailEnd type="none" w="sm" len="sm"/>
            </a:ln>
          </a:top>
        </a:tcBdr>
      </a:tcStyle>
    </a:lastRow>
    <a:seCell>
      <a:tcTxStyle b="off" i="off"/>
      <a:tcStyle>
        <a:tcBdr/>
      </a:tcStyle>
    </a:seCell>
    <a:swCell>
      <a:tcTxStyle b="off" i="off"/>
      <a:tcStyle>
        <a:tcBdr/>
      </a:tcStyle>
    </a:swCell>
    <a:firstRow>
      <a:tcTxStyle b="on" i="off">
        <a:font>
          <a:latin typeface="Arial"/>
          <a:ea typeface="Arial"/>
          <a:cs typeface="Arial"/>
        </a:font>
        <a:schemeClr val="lt1"/>
      </a:tcTxStyle>
      <a:tcStyle>
        <a:tcBdr/>
        <a:fill>
          <a:solidFill>
            <a:schemeClr val="accent5"/>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17" autoAdjust="0"/>
    <p:restoredTop sz="96652" autoAdjust="0"/>
  </p:normalViewPr>
  <p:slideViewPr>
    <p:cSldViewPr snapToGrid="0">
      <p:cViewPr>
        <p:scale>
          <a:sx n="100" d="100"/>
          <a:sy n="100" d="100"/>
        </p:scale>
        <p:origin x="960" y="228"/>
      </p:cViewPr>
      <p:guideLst/>
    </p:cSldViewPr>
  </p:slideViewPr>
  <p:outlineViewPr>
    <p:cViewPr>
      <p:scale>
        <a:sx n="75" d="100"/>
        <a:sy n="75"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84" d="100"/>
          <a:sy n="84" d="100"/>
        </p:scale>
        <p:origin x="3912" y="96"/>
      </p:cViewPr>
      <p:guideLst/>
    </p:cSldViewPr>
  </p:notes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handoutMaster" Target="handoutMasters/handoutMaster1.xml"/><Relationship Id="rId59"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8" Type="http://schemas.openxmlformats.org/officeDocument/2006/relationships/presProps" Target="presProps.xml"/><Relationship Id="rId5" Type="http://schemas.openxmlformats.org/officeDocument/2006/relationships/slide" Target="slides/slide4.xml"/><Relationship Id="rId57" Type="http://customschemas.google.com/relationships/presentationmetadata" Target="metadata"/><Relationship Id="rId61" Type="http://schemas.openxmlformats.org/officeDocument/2006/relationships/tableStyles" Target="tableStyles.xml"/><Relationship Id="rId60" Type="http://schemas.openxmlformats.org/officeDocument/2006/relationships/theme" Target="theme/theme1.xml"/><Relationship Id="rId4" Type="http://schemas.openxmlformats.org/officeDocument/2006/relationships/slide" Target="slides/slide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2C881F9-60D5-E1F7-EEAE-B2648A5079E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A2EF2A4-E93B-22DD-EC85-F04826B735E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9C32D06-F1F0-49F8-AED8-D1F006B58792}" type="datetimeFigureOut">
              <a:rPr lang="en-US" smtClean="0"/>
              <a:t>9/20/2026</a:t>
            </a:fld>
            <a:endParaRPr lang="en-US"/>
          </a:p>
        </p:txBody>
      </p:sp>
      <p:sp>
        <p:nvSpPr>
          <p:cNvPr id="4" name="Footer Placeholder 3">
            <a:extLst>
              <a:ext uri="{FF2B5EF4-FFF2-40B4-BE49-F238E27FC236}">
                <a16:creationId xmlns:a16="http://schemas.microsoft.com/office/drawing/2014/main" id="{B6E869BB-21F1-8841-3D97-8238C4EB8D8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5729B82-15A0-F5DA-CA13-788F8F009E7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3012360-D0F5-4120-912E-C64C221B4568}" type="slidenum">
              <a:rPr lang="en-US" smtClean="0"/>
              <a:t>‹#›</a:t>
            </a:fld>
            <a:endParaRPr lang="en-US"/>
          </a:p>
        </p:txBody>
      </p:sp>
    </p:spTree>
    <p:extLst>
      <p:ext uri="{BB962C8B-B14F-4D97-AF65-F5344CB8AC3E}">
        <p14:creationId xmlns:p14="http://schemas.microsoft.com/office/powerpoint/2010/main" val="6219741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 name="Google Shape;8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 name="Google Shape;89;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 name="Google Shape;8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 name="Google Shape;89;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a:t>
            </a:fld>
            <a:endParaRPr/>
          </a:p>
        </p:txBody>
      </p:sp>
    </p:spTree>
    <p:extLst>
      <p:ext uri="{BB962C8B-B14F-4D97-AF65-F5344CB8AC3E}">
        <p14:creationId xmlns:p14="http://schemas.microsoft.com/office/powerpoint/2010/main" val="39057977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 name="Google Shape;88;p1:notes"/>
          <p:cNvSpPr txBox="1">
            <a:spLocks noGrp="1"/>
          </p:cNvSpPr>
          <p:nvPr>
            <p:ph type="body" idx="1"/>
          </p:nvPr>
        </p:nvSpPr>
        <p:spPr>
          <a:xfrm>
            <a:off x="685800" y="4400550"/>
            <a:ext cx="5486400" cy="3600450"/>
          </a:xfrm>
          <a:prstGeom prst="rect">
            <a:avLst/>
          </a:prstGeom>
          <a:noFill/>
          <a:ln>
            <a:noFill/>
          </a:ln>
        </p:spPr>
        <p:txBody>
          <a:bodyPr/>
          <a:lstStyle/>
          <a:p>
            <a:pPr marL="0" lvl="0" indent="0" algn="l">
              <a:lnSpc>
                <a:spcPct val="100000"/>
              </a:lnSpc>
              <a:spcBef>
                <a:spcPts val="0"/>
              </a:spcBef>
              <a:spcAft>
                <a:spcPts val="0"/>
              </a:spcAft>
              <a:buSzPts val="1400"/>
              <a:buNone/>
            </a:pPr>
            <a:r>
              <a:t>The proposed platform brings used-book purchases and exchanges into one dedicated place. Members can search available listings and inspect book photos and condition details. Reviews come from completed transactions. For exchanges, the system shows book values, deposits and any cash difference before acceptance. Transaction controls include fund holds, delivery tracking and evidence-based dispute handling. Payments and carrier events are simulated in the project prototype.</a:t>
            </a:r>
            <a:endParaRPr/>
          </a:p>
          <a:p>
            <a:pPr marL="0" lvl="0" indent="0" algn="l">
              <a:lnSpc>
                <a:spcPct val="100000"/>
              </a:lnSpc>
              <a:spcBef>
                <a:spcPts val="0"/>
              </a:spcBef>
              <a:spcAft>
                <a:spcPts val="0"/>
              </a:spcAft>
              <a:buSzPts val="1400"/>
              <a:buNone/>
            </a:pPr>
            <a:r>
              <a:t/>
            </a:r>
            <a:endParaRPr/>
          </a:p>
          <a:p>
            <a:pPr marL="0" lvl="0" indent="0" algn="l">
              <a:lnSpc>
                <a:spcPct val="100000"/>
              </a:lnSpc>
              <a:spcBef>
                <a:spcPts val="0"/>
              </a:spcBef>
              <a:spcAft>
                <a:spcPts val="0"/>
              </a:spcAft>
              <a:buSzPts val="1400"/>
              <a:buNone/>
            </a:pPr>
            <a:r>
              <a:t>Sources: SRS-BOOK-001 v1.0, sections 2.2 and 2.4; FR-C04–C05, FR-L01–L03, FR-X02–X05, FR-W03, FR-S03, FR-D01–D05, FR-R01. Illustration: generated with the built-in ImageGen tool for this slide. Conceptual artwork, not a product screenshot.</a:t>
            </a:r>
            <a:endParaRPr/>
          </a:p>
        </p:txBody>
      </p:sp>
      <p:sp>
        <p:nvSpPr>
          <p:cNvPr id="89" name="Google Shape;89;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a:t>
            </a:fld>
            <a:endParaRPr/>
          </a:p>
        </p:txBody>
      </p:sp>
    </p:spTree>
    <p:extLst>
      <p:ext uri="{BB962C8B-B14F-4D97-AF65-F5344CB8AC3E}">
        <p14:creationId xmlns:p14="http://schemas.microsoft.com/office/powerpoint/2010/main" val="29479166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 name="Google Shape;8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 name="Google Shape;89;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extLst>
      <p:ext uri="{BB962C8B-B14F-4D97-AF65-F5344CB8AC3E}">
        <p14:creationId xmlns:p14="http://schemas.microsoft.com/office/powerpoint/2010/main" val="40451030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75"/>
          <p:cNvSpPr txBox="1">
            <a:spLocks noGrp="1"/>
          </p:cNvSpPr>
          <p:nvPr>
            <p:ph type="ctrTitle"/>
          </p:nvPr>
        </p:nvSpPr>
        <p:spPr>
          <a:xfrm>
            <a:off x="1524000" y="1988598"/>
            <a:ext cx="9144000" cy="1521364"/>
          </a:xfrm>
          <a:prstGeom prst="rect">
            <a:avLst/>
          </a:prstGeom>
          <a:solidFill>
            <a:schemeClr val="accent2"/>
          </a:solid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5"/>
          <p:cNvSpPr txBox="1">
            <a:spLocks noGrp="1"/>
          </p:cNvSpPr>
          <p:nvPr>
            <p:ph type="subTitle" idx="1"/>
          </p:nvPr>
        </p:nvSpPr>
        <p:spPr>
          <a:xfrm>
            <a:off x="1524000" y="3602038"/>
            <a:ext cx="9144000" cy="1227414"/>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75"/>
          <p:cNvSpPr txBox="1"/>
          <p:nvPr/>
        </p:nvSpPr>
        <p:spPr>
          <a:xfrm>
            <a:off x="0" y="6461294"/>
            <a:ext cx="12192000" cy="403934"/>
          </a:xfrm>
          <a:prstGeom prst="rect">
            <a:avLst/>
          </a:prstGeom>
          <a:solidFill>
            <a:srgbClr val="2F5496"/>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pic>
        <p:nvPicPr>
          <p:cNvPr id="19" name="Google Shape;19;p75"/>
          <p:cNvPicPr preferRelativeResize="0"/>
          <p:nvPr/>
        </p:nvPicPr>
        <p:blipFill rotWithShape="1">
          <a:blip r:embed="rId2">
            <a:alphaModFix/>
          </a:blip>
          <a:srcRect/>
          <a:stretch/>
        </p:blipFill>
        <p:spPr>
          <a:xfrm>
            <a:off x="523292" y="23662"/>
            <a:ext cx="932284" cy="51275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2" name="Google Shape;32;p7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7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7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7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sz="3600" b="1">
                <a:solidFill>
                  <a:srgbClr val="00206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7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7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7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7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7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7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7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7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7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7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7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7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7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8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8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3" name="Google Shape;63;p8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4" name="Google Shape;64;p8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8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8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83"/>
          <p:cNvSpPr>
            <a:spLocks noGrp="1"/>
          </p:cNvSpPr>
          <p:nvPr>
            <p:ph type="pic" idx="2"/>
          </p:nvPr>
        </p:nvSpPr>
        <p:spPr>
          <a:xfrm>
            <a:off x="5183188" y="987425"/>
            <a:ext cx="6172200" cy="4873625"/>
          </a:xfrm>
          <a:prstGeom prst="rect">
            <a:avLst/>
          </a:prstGeom>
          <a:noFill/>
          <a:ln>
            <a:noFill/>
          </a:ln>
        </p:spPr>
      </p:sp>
      <p:sp>
        <p:nvSpPr>
          <p:cNvPr id="70" name="Google Shape;70;p8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1" name="Google Shape;71;p8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8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8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8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8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8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8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8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8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8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8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7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7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7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7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7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 Type="http://schemas.openxmlformats.org/officeDocument/2006/relationships/image" Target="../media/solution_exchange.png" Id="Rc622758520474dae"/></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2" name="TextBox 1">
            <a:extLst>
              <a:ext uri="{FF2B5EF4-FFF2-40B4-BE49-F238E27FC236}">
                <a16:creationId xmlns:a16="http://schemas.microsoft.com/office/drawing/2014/main" id="{35A4F361-B7E8-B343-9886-EB21D17E9BF8}"/>
              </a:ext>
            </a:extLst>
          </p:cNvPr>
          <p:cNvSpPr txBox="1"/>
          <p:nvPr/>
        </p:nvSpPr>
        <p:spPr>
          <a:xfrm>
            <a:off x="2694389" y="1223066"/>
            <a:ext cx="6803221" cy="1015663"/>
          </a:xfrm>
          <a:prstGeom prst="rect">
            <a:avLst/>
          </a:prstGeom>
          <a:noFill/>
        </p:spPr>
        <p:txBody>
          <a:bodyPr wrap="square" rtlCol="0">
            <a:spAutoFit/>
          </a:bodyPr>
          <a:lstStyle/>
          <a:p>
            <a:r>
              <a:rPr lang="en-US" sz="6000" b="1" dirty="0">
                <a:latin typeface="Darley Sans" pitchFamily="50" charset="0"/>
              </a:rPr>
              <a:t>PRM393 </a:t>
            </a:r>
            <a:r>
              <a:rPr lang="en-US" sz="6000" b="1" dirty="0">
                <a:solidFill>
                  <a:srgbClr val="0070C0"/>
                </a:solidFill>
                <a:latin typeface="Darley Sans" pitchFamily="50" charset="0"/>
              </a:rPr>
              <a:t>Review 1</a:t>
            </a:r>
          </a:p>
        </p:txBody>
      </p:sp>
      <p:sp>
        <p:nvSpPr>
          <p:cNvPr id="3" name="TextBox 2">
            <a:extLst>
              <a:ext uri="{FF2B5EF4-FFF2-40B4-BE49-F238E27FC236}">
                <a16:creationId xmlns:a16="http://schemas.microsoft.com/office/drawing/2014/main" id="{2E53D62D-9F07-B43C-5B15-AD937BE70208}"/>
              </a:ext>
            </a:extLst>
          </p:cNvPr>
          <p:cNvSpPr txBox="1"/>
          <p:nvPr/>
        </p:nvSpPr>
        <p:spPr>
          <a:xfrm>
            <a:off x="1089420" y="3429000"/>
            <a:ext cx="3454056" cy="892552"/>
          </a:xfrm>
          <a:prstGeom prst="rect">
            <a:avLst/>
          </a:prstGeom>
          <a:noFill/>
        </p:spPr>
        <p:txBody>
          <a:bodyPr wrap="square" rtlCol="0">
            <a:spAutoFit/>
          </a:bodyPr>
          <a:lstStyle/>
          <a:p>
            <a:r>
              <a:rPr lang="en-US" sz="2800" b="1" dirty="0">
                <a:solidFill>
                  <a:srgbClr val="0070C0"/>
                </a:solidFill>
                <a:latin typeface="Darley Sans" pitchFamily="50" charset="0"/>
              </a:rPr>
              <a:t>Lecturer: </a:t>
            </a:r>
          </a:p>
          <a:p>
            <a:r>
              <a:rPr lang="en-US" sz="2400" dirty="0">
                <a:latin typeface="Darley Sans" pitchFamily="50" charset="0"/>
              </a:rPr>
              <a:t>Mr. Nguyen Minh Sang</a:t>
            </a:r>
          </a:p>
        </p:txBody>
      </p:sp>
      <p:sp>
        <p:nvSpPr>
          <p:cNvPr id="4" name="TextBox 3">
            <a:extLst>
              <a:ext uri="{FF2B5EF4-FFF2-40B4-BE49-F238E27FC236}">
                <a16:creationId xmlns:a16="http://schemas.microsoft.com/office/drawing/2014/main" id="{042FB2BD-99BC-0371-6963-B1B8AB1675D5}"/>
              </a:ext>
            </a:extLst>
          </p:cNvPr>
          <p:cNvSpPr txBox="1"/>
          <p:nvPr/>
        </p:nvSpPr>
        <p:spPr>
          <a:xfrm>
            <a:off x="7332634" y="3429000"/>
            <a:ext cx="3769946" cy="2369880"/>
          </a:xfrm>
          <a:prstGeom prst="rect">
            <a:avLst/>
          </a:prstGeom>
          <a:noFill/>
        </p:spPr>
        <p:txBody>
          <a:bodyPr wrap="square" rtlCol="0">
            <a:spAutoFit/>
          </a:bodyPr>
          <a:lstStyle/>
          <a:p>
            <a:r>
              <a:rPr lang="en-US" sz="2800" b="1" dirty="0">
                <a:solidFill>
                  <a:srgbClr val="0070C0"/>
                </a:solidFill>
                <a:latin typeface="Darley Sans" pitchFamily="50" charset="0"/>
              </a:rPr>
              <a:t>Group 3: </a:t>
            </a:r>
          </a:p>
          <a:p>
            <a:r>
              <a:rPr lang="en-US" sz="2400" dirty="0">
                <a:latin typeface="Darley Sans" pitchFamily="50" charset="0"/>
              </a:rPr>
              <a:t>Nguyen Huy Hoang</a:t>
            </a:r>
          </a:p>
          <a:p>
            <a:r>
              <a:rPr lang="en-US" sz="2400" dirty="0">
                <a:latin typeface="Darley Sans" pitchFamily="50" charset="0"/>
              </a:rPr>
              <a:t>Phung Tuan Minh</a:t>
            </a:r>
          </a:p>
          <a:p>
            <a:r>
              <a:rPr lang="en-US" sz="2400" dirty="0">
                <a:latin typeface="Darley Sans" pitchFamily="50" charset="0"/>
              </a:rPr>
              <a:t>Nguyen Phuoc Long </a:t>
            </a:r>
            <a:r>
              <a:rPr lang="en-US" sz="2400" dirty="0" err="1">
                <a:latin typeface="Darley Sans" pitchFamily="50" charset="0"/>
              </a:rPr>
              <a:t>Nhat</a:t>
            </a:r>
            <a:endParaRPr lang="en-US" sz="2400" dirty="0">
              <a:latin typeface="Darley Sans" pitchFamily="50" charset="0"/>
            </a:endParaRPr>
          </a:p>
          <a:p>
            <a:r>
              <a:rPr lang="en-US" sz="2400" dirty="0">
                <a:latin typeface="Darley Sans" pitchFamily="50" charset="0"/>
              </a:rPr>
              <a:t>Truong Tran Gia Bao</a:t>
            </a:r>
          </a:p>
          <a:p>
            <a:r>
              <a:rPr lang="en-US" sz="2400" dirty="0">
                <a:latin typeface="Darley Sans" pitchFamily="50" charset="0"/>
              </a:rPr>
              <a:t>Nguyen Thanh Dai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2" name="TextBox 1">
            <a:extLst>
              <a:ext uri="{FF2B5EF4-FFF2-40B4-BE49-F238E27FC236}">
                <a16:creationId xmlns:a16="http://schemas.microsoft.com/office/drawing/2014/main" id="{47861A7A-12C4-0813-E65A-5863DBA2B94E}"/>
              </a:ext>
            </a:extLst>
          </p:cNvPr>
          <p:cNvSpPr txBox="1"/>
          <p:nvPr/>
        </p:nvSpPr>
        <p:spPr>
          <a:xfrm>
            <a:off x="4840323" y="387721"/>
            <a:ext cx="2511353" cy="830997"/>
          </a:xfrm>
          <a:prstGeom prst="rect">
            <a:avLst/>
          </a:prstGeom>
          <a:noFill/>
        </p:spPr>
        <p:txBody>
          <a:bodyPr wrap="square" rtlCol="0">
            <a:spAutoFit/>
          </a:bodyPr>
          <a:lstStyle/>
          <a:p>
            <a:pPr algn="ctr"/>
            <a:r>
              <a:rPr lang="en-US" sz="4800" b="1" dirty="0">
                <a:solidFill>
                  <a:srgbClr val="0070C0"/>
                </a:solidFill>
                <a:latin typeface="Darley Sans" pitchFamily="50" charset="0"/>
              </a:rPr>
              <a:t>Context</a:t>
            </a:r>
          </a:p>
        </p:txBody>
      </p:sp>
      <p:pic>
        <p:nvPicPr>
          <p:cNvPr id="4" name="Picture 3">
            <a:extLst>
              <a:ext uri="{FF2B5EF4-FFF2-40B4-BE49-F238E27FC236}">
                <a16:creationId xmlns:a16="http://schemas.microsoft.com/office/drawing/2014/main" id="{173B4E65-B84C-B3D2-5AE5-8F880EA91105}"/>
              </a:ext>
            </a:extLst>
          </p:cNvPr>
          <p:cNvPicPr>
            <a:picLocks noChangeAspect="1"/>
          </p:cNvPicPr>
          <p:nvPr/>
        </p:nvPicPr>
        <p:blipFill>
          <a:blip r:embed="rId3"/>
          <a:stretch>
            <a:fillRect/>
          </a:stretch>
        </p:blipFill>
        <p:spPr>
          <a:xfrm>
            <a:off x="847332" y="3902854"/>
            <a:ext cx="857598" cy="820311"/>
          </a:xfrm>
          <a:prstGeom prst="rect">
            <a:avLst/>
          </a:prstGeom>
        </p:spPr>
      </p:pic>
      <p:pic>
        <p:nvPicPr>
          <p:cNvPr id="6" name="Picture 5">
            <a:extLst>
              <a:ext uri="{FF2B5EF4-FFF2-40B4-BE49-F238E27FC236}">
                <a16:creationId xmlns:a16="http://schemas.microsoft.com/office/drawing/2014/main" id="{096BFEE1-7299-7A75-909E-97762B72F04F}"/>
              </a:ext>
            </a:extLst>
          </p:cNvPr>
          <p:cNvPicPr>
            <a:picLocks noChangeAspect="1"/>
          </p:cNvPicPr>
          <p:nvPr/>
        </p:nvPicPr>
        <p:blipFill>
          <a:blip r:embed="rId4"/>
          <a:stretch>
            <a:fillRect/>
          </a:stretch>
        </p:blipFill>
        <p:spPr>
          <a:xfrm>
            <a:off x="806569" y="1371763"/>
            <a:ext cx="939127" cy="820959"/>
          </a:xfrm>
          <a:prstGeom prst="rect">
            <a:avLst/>
          </a:prstGeom>
        </p:spPr>
      </p:pic>
      <p:pic>
        <p:nvPicPr>
          <p:cNvPr id="8" name="Picture 7">
            <a:extLst>
              <a:ext uri="{FF2B5EF4-FFF2-40B4-BE49-F238E27FC236}">
                <a16:creationId xmlns:a16="http://schemas.microsoft.com/office/drawing/2014/main" id="{A93C5E25-5F85-6EDA-84A5-528AE796D3A9}"/>
              </a:ext>
            </a:extLst>
          </p:cNvPr>
          <p:cNvPicPr>
            <a:picLocks noChangeAspect="1"/>
          </p:cNvPicPr>
          <p:nvPr/>
        </p:nvPicPr>
        <p:blipFill>
          <a:blip r:embed="rId5"/>
          <a:stretch>
            <a:fillRect/>
          </a:stretch>
        </p:blipFill>
        <p:spPr>
          <a:xfrm>
            <a:off x="865976" y="2637632"/>
            <a:ext cx="820311" cy="820311"/>
          </a:xfrm>
          <a:prstGeom prst="rect">
            <a:avLst/>
          </a:prstGeom>
        </p:spPr>
      </p:pic>
      <p:pic>
        <p:nvPicPr>
          <p:cNvPr id="10" name="Picture 9">
            <a:extLst>
              <a:ext uri="{FF2B5EF4-FFF2-40B4-BE49-F238E27FC236}">
                <a16:creationId xmlns:a16="http://schemas.microsoft.com/office/drawing/2014/main" id="{601EE376-CEEA-110F-A158-FFC1FD63FC6C}"/>
              </a:ext>
            </a:extLst>
          </p:cNvPr>
          <p:cNvPicPr>
            <a:picLocks noChangeAspect="1"/>
          </p:cNvPicPr>
          <p:nvPr/>
        </p:nvPicPr>
        <p:blipFill>
          <a:blip r:embed="rId6"/>
          <a:stretch>
            <a:fillRect/>
          </a:stretch>
        </p:blipFill>
        <p:spPr>
          <a:xfrm>
            <a:off x="651368" y="5202505"/>
            <a:ext cx="1094328" cy="736567"/>
          </a:xfrm>
          <a:prstGeom prst="rect">
            <a:avLst/>
          </a:prstGeom>
        </p:spPr>
      </p:pic>
      <p:sp>
        <p:nvSpPr>
          <p:cNvPr id="12" name="TextBox 11">
            <a:extLst>
              <a:ext uri="{FF2B5EF4-FFF2-40B4-BE49-F238E27FC236}">
                <a16:creationId xmlns:a16="http://schemas.microsoft.com/office/drawing/2014/main" id="{018837F8-4AEC-FF09-F2B1-1B2B277C8937}"/>
              </a:ext>
            </a:extLst>
          </p:cNvPr>
          <p:cNvSpPr txBox="1"/>
          <p:nvPr/>
        </p:nvSpPr>
        <p:spPr>
          <a:xfrm>
            <a:off x="9768287" y="5461661"/>
            <a:ext cx="1909364" cy="830997"/>
          </a:xfrm>
          <a:prstGeom prst="rect">
            <a:avLst/>
          </a:prstGeom>
          <a:noFill/>
        </p:spPr>
        <p:txBody>
          <a:bodyPr wrap="square">
            <a:spAutoFit/>
          </a:bodyPr>
          <a:lstStyle/>
          <a:p>
            <a:r>
              <a:rPr lang="en-US" sz="1600" i="1" dirty="0">
                <a:effectLst/>
                <a:latin typeface="Times New Roman" panose="02020603050405020304" pitchFamily="18" charset="0"/>
                <a:cs typeface="Times New Roman" panose="02020603050405020304" pitchFamily="18" charset="0"/>
              </a:rPr>
              <a:t>Source: </a:t>
            </a:r>
            <a:r>
              <a:rPr lang="en-US" sz="1600" i="1" dirty="0" err="1">
                <a:solidFill>
                  <a:srgbClr val="231F20"/>
                </a:solidFill>
                <a:effectLst/>
                <a:latin typeface="Times New Roman" panose="02020603050405020304" pitchFamily="18" charset="0"/>
                <a:cs typeface="Times New Roman" panose="02020603050405020304" pitchFamily="18" charset="0"/>
              </a:rPr>
              <a:t>Nhà</a:t>
            </a:r>
            <a:r>
              <a:rPr lang="en-US" sz="1600" i="1" dirty="0">
                <a:solidFill>
                  <a:srgbClr val="231F20"/>
                </a:solidFill>
                <a:effectLst/>
                <a:latin typeface="Times New Roman" panose="02020603050405020304" pitchFamily="18" charset="0"/>
                <a:cs typeface="Times New Roman" panose="02020603050405020304" pitchFamily="18" charset="0"/>
              </a:rPr>
              <a:t> </a:t>
            </a:r>
            <a:r>
              <a:rPr lang="en-US" sz="1600" i="1" dirty="0" err="1">
                <a:solidFill>
                  <a:srgbClr val="231F20"/>
                </a:solidFill>
                <a:effectLst/>
                <a:latin typeface="Times New Roman" panose="02020603050405020304" pitchFamily="18" charset="0"/>
                <a:cs typeface="Times New Roman" panose="02020603050405020304" pitchFamily="18" charset="0"/>
              </a:rPr>
              <a:t>sách</a:t>
            </a:r>
            <a:r>
              <a:rPr lang="en-US" sz="1600" i="1" dirty="0">
                <a:solidFill>
                  <a:srgbClr val="231F20"/>
                </a:solidFill>
                <a:effectLst/>
                <a:latin typeface="Times New Roman" panose="02020603050405020304" pitchFamily="18" charset="0"/>
                <a:cs typeface="Times New Roman" panose="02020603050405020304" pitchFamily="18" charset="0"/>
              </a:rPr>
              <a:t> </a:t>
            </a:r>
            <a:r>
              <a:rPr lang="en-US" sz="1600" i="1" dirty="0" err="1">
                <a:solidFill>
                  <a:srgbClr val="231F20"/>
                </a:solidFill>
                <a:effectLst/>
                <a:latin typeface="Times New Roman" panose="02020603050405020304" pitchFamily="18" charset="0"/>
                <a:cs typeface="Times New Roman" panose="02020603050405020304" pitchFamily="18" charset="0"/>
              </a:rPr>
              <a:t>cũ</a:t>
            </a:r>
            <a:r>
              <a:rPr lang="en-US" sz="1600" i="1" dirty="0">
                <a:solidFill>
                  <a:srgbClr val="231F20"/>
                </a:solidFill>
                <a:effectLst/>
                <a:latin typeface="Times New Roman" panose="02020603050405020304" pitchFamily="18" charset="0"/>
                <a:cs typeface="Times New Roman" panose="02020603050405020304" pitchFamily="18" charset="0"/>
              </a:rPr>
              <a:t> 27D Ngô </a:t>
            </a:r>
            <a:r>
              <a:rPr lang="en-US" sz="1600" i="1" dirty="0" err="1">
                <a:solidFill>
                  <a:srgbClr val="231F20"/>
                </a:solidFill>
                <a:effectLst/>
                <a:latin typeface="Times New Roman" panose="02020603050405020304" pitchFamily="18" charset="0"/>
                <a:cs typeface="Times New Roman" panose="02020603050405020304" pitchFamily="18" charset="0"/>
              </a:rPr>
              <a:t>Thì</a:t>
            </a:r>
            <a:r>
              <a:rPr lang="en-US" sz="1600" i="1" dirty="0">
                <a:solidFill>
                  <a:srgbClr val="231F20"/>
                </a:solidFill>
                <a:effectLst/>
                <a:latin typeface="Times New Roman" panose="02020603050405020304" pitchFamily="18" charset="0"/>
                <a:cs typeface="Times New Roman" panose="02020603050405020304" pitchFamily="18" charset="0"/>
              </a:rPr>
              <a:t> </a:t>
            </a:r>
            <a:r>
              <a:rPr lang="en-US" sz="1600" i="1" dirty="0" err="1">
                <a:solidFill>
                  <a:srgbClr val="231F20"/>
                </a:solidFill>
                <a:effectLst/>
                <a:latin typeface="Times New Roman" panose="02020603050405020304" pitchFamily="18" charset="0"/>
                <a:cs typeface="Times New Roman" panose="02020603050405020304" pitchFamily="18" charset="0"/>
              </a:rPr>
              <a:t>Nhậm</a:t>
            </a:r>
            <a:endParaRPr lang="en-US" sz="1600" i="1" dirty="0">
              <a:solidFill>
                <a:srgbClr val="231F20"/>
              </a:solidFill>
              <a:effectLst/>
              <a:latin typeface="Times New Roman" panose="02020603050405020304" pitchFamily="18" charset="0"/>
              <a:cs typeface="Times New Roman" panose="02020603050405020304" pitchFamily="18" charset="0"/>
            </a:endParaRPr>
          </a:p>
          <a:p>
            <a:endParaRPr lang="en-US" sz="1600" i="1"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63893389-960F-2285-3878-F973611EB4E6}"/>
              </a:ext>
            </a:extLst>
          </p:cNvPr>
          <p:cNvSpPr txBox="1"/>
          <p:nvPr/>
        </p:nvSpPr>
        <p:spPr>
          <a:xfrm>
            <a:off x="2034766" y="2586122"/>
            <a:ext cx="3777559" cy="923330"/>
          </a:xfrm>
          <a:prstGeom prst="rect">
            <a:avLst/>
          </a:prstGeom>
          <a:noFill/>
        </p:spPr>
        <p:txBody>
          <a:bodyPr wrap="square">
            <a:spAutoFit/>
          </a:bodyPr>
          <a:lstStyle/>
          <a:p>
            <a:r>
              <a:rPr lang="en-US" sz="1800" b="0" i="0" dirty="0">
                <a:effectLst/>
                <a:latin typeface="Darley Sans" pitchFamily="50" charset="0"/>
              </a:rPr>
              <a:t>Used books are mainly bought and sold through Facebook groups and e-commerce platforms</a:t>
            </a:r>
            <a:endParaRPr lang="en-US" sz="1800" dirty="0">
              <a:latin typeface="Darley Sans" pitchFamily="50" charset="0"/>
            </a:endParaRPr>
          </a:p>
        </p:txBody>
      </p:sp>
      <p:sp>
        <p:nvSpPr>
          <p:cNvPr id="14" name="TextBox 13">
            <a:extLst>
              <a:ext uri="{FF2B5EF4-FFF2-40B4-BE49-F238E27FC236}">
                <a16:creationId xmlns:a16="http://schemas.microsoft.com/office/drawing/2014/main" id="{793F14D9-DEBB-F225-8079-273E7100F3E0}"/>
              </a:ext>
            </a:extLst>
          </p:cNvPr>
          <p:cNvSpPr txBox="1"/>
          <p:nvPr/>
        </p:nvSpPr>
        <p:spPr>
          <a:xfrm>
            <a:off x="2034765" y="3989843"/>
            <a:ext cx="3252457" cy="646331"/>
          </a:xfrm>
          <a:prstGeom prst="rect">
            <a:avLst/>
          </a:prstGeom>
          <a:noFill/>
        </p:spPr>
        <p:txBody>
          <a:bodyPr wrap="square">
            <a:spAutoFit/>
          </a:bodyPr>
          <a:lstStyle/>
          <a:p>
            <a:r>
              <a:rPr lang="en-US" sz="1800" b="0" i="0" dirty="0">
                <a:effectLst/>
                <a:latin typeface="Darley Sans" pitchFamily="50" charset="0"/>
              </a:rPr>
              <a:t>It is difficult to verify book condition and seller reliability</a:t>
            </a:r>
            <a:endParaRPr lang="en-US" sz="1800" dirty="0">
              <a:latin typeface="Darley Sans" pitchFamily="50" charset="0"/>
            </a:endParaRPr>
          </a:p>
        </p:txBody>
      </p:sp>
      <p:sp>
        <p:nvSpPr>
          <p:cNvPr id="15" name="TextBox 14">
            <a:extLst>
              <a:ext uri="{FF2B5EF4-FFF2-40B4-BE49-F238E27FC236}">
                <a16:creationId xmlns:a16="http://schemas.microsoft.com/office/drawing/2014/main" id="{8B00413F-3503-01E7-6C9A-62CA90F141FF}"/>
              </a:ext>
            </a:extLst>
          </p:cNvPr>
          <p:cNvSpPr txBox="1"/>
          <p:nvPr/>
        </p:nvSpPr>
        <p:spPr>
          <a:xfrm>
            <a:off x="2034765" y="5116565"/>
            <a:ext cx="3706641" cy="923330"/>
          </a:xfrm>
          <a:prstGeom prst="rect">
            <a:avLst/>
          </a:prstGeom>
          <a:noFill/>
        </p:spPr>
        <p:txBody>
          <a:bodyPr wrap="square">
            <a:spAutoFit/>
          </a:bodyPr>
          <a:lstStyle/>
          <a:p>
            <a:r>
              <a:rPr lang="en-US" sz="1800" b="0" i="0" dirty="0">
                <a:effectLst/>
                <a:latin typeface="Darley Sans" pitchFamily="50" charset="0"/>
              </a:rPr>
              <a:t>There is a need for a specialized platform for buying, selling, and exchanging used books</a:t>
            </a:r>
            <a:endParaRPr lang="en-US" sz="1800" dirty="0">
              <a:latin typeface="Darley Sans" pitchFamily="50" charset="0"/>
            </a:endParaRPr>
          </a:p>
        </p:txBody>
      </p:sp>
      <p:pic>
        <p:nvPicPr>
          <p:cNvPr id="1026" name="Picture 2" descr="Lưu ngay] List 15 nhà sách cũ Hà Nội dành cho hội “mọt sách” – VinWonders">
            <a:extLst>
              <a:ext uri="{FF2B5EF4-FFF2-40B4-BE49-F238E27FC236}">
                <a16:creationId xmlns:a16="http://schemas.microsoft.com/office/drawing/2014/main" id="{CF737B89-67C6-41F9-C994-85961A2324B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981037" y="1218718"/>
            <a:ext cx="2579193" cy="420430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Sách Cũ Tây Đô - Địa chỉ thu mua sách cũ tại nhà giá cao, uy tín khu vực  Cần Thơ">
            <a:extLst>
              <a:ext uri="{FF2B5EF4-FFF2-40B4-BE49-F238E27FC236}">
                <a16:creationId xmlns:a16="http://schemas.microsoft.com/office/drawing/2014/main" id="{67C3E893-5732-2F07-44B3-D9B3F2F30CE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16583" y="2328986"/>
            <a:ext cx="2783182" cy="3710909"/>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A992B528-2EBB-CDD2-E6BE-DDA9A5F543C0}"/>
              </a:ext>
            </a:extLst>
          </p:cNvPr>
          <p:cNvSpPr txBox="1"/>
          <p:nvPr/>
        </p:nvSpPr>
        <p:spPr>
          <a:xfrm>
            <a:off x="2187166" y="1611476"/>
            <a:ext cx="3252457" cy="646331"/>
          </a:xfrm>
          <a:prstGeom prst="rect">
            <a:avLst/>
          </a:prstGeom>
          <a:noFill/>
        </p:spPr>
        <p:txBody>
          <a:bodyPr wrap="square">
            <a:spAutoFit/>
          </a:bodyPr>
          <a:lstStyle/>
          <a:p>
            <a:r>
              <a:rPr lang="en-US" sz="1800" b="0" i="0" dirty="0">
                <a:effectLst/>
                <a:latin typeface="Darley Sans" pitchFamily="50" charset="0"/>
              </a:rPr>
              <a:t>Students have a growing demand for affordable books</a:t>
            </a:r>
            <a:endParaRPr lang="en-US" sz="1800" dirty="0">
              <a:latin typeface="Darley Sans" pitchFamily="50" charset="0"/>
            </a:endParaRPr>
          </a:p>
        </p:txBody>
      </p:sp>
    </p:spTree>
    <p:extLst>
      <p:ext uri="{BB962C8B-B14F-4D97-AF65-F5344CB8AC3E}">
        <p14:creationId xmlns:p14="http://schemas.microsoft.com/office/powerpoint/2010/main" val="16421782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13" name="Solution title">
            <a:extLst>
              <a:ext uri="{FF2B5EF4-FFF2-40B4-BE49-F238E27FC236}">
                <a16:creationId xmlns:a16="http://schemas.microsoft.com/office/drawing/2014/main" id="{1FB186D4-B28C-4DB0-82A8-3C96E919F345}"/>
              </a:ext>
            </a:extLst>
          </p:cNvPr>
          <p:cNvSpPr>
            <a:spLocks noGrp="1"/>
          </p:cNvSpPr>
          <p:nvPr/>
        </p:nvSpPr>
        <p:spPr>
          <a:xfrm>
            <a:off x="4191000" y="387763"/>
            <a:ext cx="3810000" cy="830961"/>
          </a:xfrm>
          <a:prstGeom prst="rect">
            <a:avLst/>
          </a:prstGeom>
          <a:noFill/>
          <a:ln w="0">
            <a:noFill/>
          </a:ln>
        </p:spPr>
        <p:txBody>
          <a:bodyPr lIns="0" tIns="0" rIns="0" bIns="0" anchor="t">
            <a:noAutofit/>
          </a:bodyPr>
          <a:lstStyle/>
          <a:p>
            <a:pPr algn="ctr">
              <a:defRPr sz="4800" b="1">
                <a:solidFill>
                  <a:srgbClr val="0070C0"/>
                </a:solidFill>
                <a:latin typeface="Darley Sans"/>
                <a:ea typeface="Darley Sans"/>
                <a:cs typeface="Darley Sans"/>
              </a:defRPr>
            </a:pPr>
            <a:r>
              <a:rPr sz="4800" b="1">
                <a:solidFill>
                  <a:srgbClr val="0070C0"/>
                </a:solidFill>
                <a:latin typeface="Darley Sans"/>
                <a:ea typeface="Darley Sans"/>
                <a:cs typeface="Darley Sans"/>
              </a:rPr>
              <a:t>Solution</a:t>
            </a:r>
          </a:p>
        </p:txBody>
      </p:sp>
      <p:sp>
        <p:nvSpPr>
          <p:cNvPr id="2" name="Proposed platform">
            <a:extLst>
              <a:ext uri="{FF2B5EF4-FFF2-40B4-BE49-F238E27FC236}">
                <a16:creationId xmlns:a16="http://schemas.microsoft.com/office/drawing/2014/main" id="{CA4C959A-507C-4205-93A2-905F0F6822E6}"/>
              </a:ext>
            </a:extLst>
          </p:cNvPr>
          <p:cNvSpPr>
            <a:spLocks noGrp="1"/>
          </p:cNvSpPr>
          <p:nvPr/>
        </p:nvSpPr>
        <p:spPr>
          <a:xfrm>
            <a:off x="762000" y="1266825"/>
            <a:ext cx="10668000" cy="400050"/>
          </a:xfrm>
          <a:prstGeom prst="rect">
            <a:avLst/>
          </a:prstGeom>
          <a:noFill/>
          <a:ln w="0">
            <a:noFill/>
          </a:ln>
        </p:spPr>
        <p:txBody>
          <a:bodyPr lIns="0" tIns="0" rIns="0" bIns="0" anchor="t">
            <a:noAutofit/>
          </a:bodyPr>
          <a:lstStyle/>
          <a:p>
            <a:pPr algn="ctr">
              <a:defRPr sz="2025" b="0">
                <a:solidFill>
                  <a:srgbClr val="2F5496"/>
                </a:solidFill>
                <a:latin typeface="Darley Sans"/>
                <a:ea typeface="Darley Sans"/>
                <a:cs typeface="Darley Sans"/>
              </a:defRPr>
            </a:pPr>
            <a:r>
              <a:rPr sz="2025" b="0">
                <a:solidFill>
                  <a:srgbClr val="2F5496"/>
                </a:solidFill>
                <a:latin typeface="Darley Sans"/>
                <a:ea typeface="Darley Sans"/>
                <a:cs typeface="Darley Sans"/>
              </a:rPr>
              <a:t>A dedicated platform for buying, selling and exchanging used books</a:t>
            </a:r>
          </a:p>
        </p:txBody>
      </p:sp>
      <p:sp>
        <p:nvSpPr>
          <p:cNvPr id="3" name="Solution heading 1">
            <a:extLst>
              <a:ext uri="{FF2B5EF4-FFF2-40B4-BE49-F238E27FC236}">
                <a16:creationId xmlns:a16="http://schemas.microsoft.com/office/drawing/2014/main" id="{478C6186-A4A2-4821-8AC5-E2AAE37045C5}"/>
              </a:ext>
            </a:extLst>
          </p:cNvPr>
          <p:cNvSpPr>
            <a:spLocks noGrp="1"/>
          </p:cNvSpPr>
          <p:nvPr/>
        </p:nvSpPr>
        <p:spPr>
          <a:xfrm>
            <a:off x="857250" y="1952625"/>
            <a:ext cx="6000750" cy="352425"/>
          </a:xfrm>
          <a:prstGeom prst="rect">
            <a:avLst/>
          </a:prstGeom>
          <a:noFill/>
          <a:ln w="0">
            <a:noFill/>
          </a:ln>
        </p:spPr>
        <p:txBody>
          <a:bodyPr lIns="0" tIns="0" rIns="0" bIns="0" anchor="t">
            <a:noAutofit/>
          </a:bodyPr>
          <a:lstStyle/>
          <a:p>
            <a:pPr algn="l">
              <a:defRPr sz="2100" b="1">
                <a:solidFill>
                  <a:srgbClr val="0070C0"/>
                </a:solidFill>
                <a:latin typeface="Darley Sans"/>
                <a:ea typeface="Darley Sans"/>
                <a:cs typeface="Darley Sans"/>
              </a:defRPr>
            </a:pPr>
            <a:r>
              <a:rPr sz="2100" b="1">
                <a:solidFill>
                  <a:srgbClr val="0070C0"/>
                </a:solidFill>
                <a:latin typeface="Darley Sans"/>
                <a:ea typeface="Darley Sans"/>
                <a:cs typeface="Darley Sans"/>
              </a:rPr>
              <a:t>Buy, sell or exchange books</a:t>
            </a:r>
          </a:p>
        </p:txBody>
      </p:sp>
      <p:sp>
        <p:nvSpPr>
          <p:cNvPr id="4" name="Solution detail 1">
            <a:extLst>
              <a:ext uri="{FF2B5EF4-FFF2-40B4-BE49-F238E27FC236}">
                <a16:creationId xmlns:a16="http://schemas.microsoft.com/office/drawing/2014/main" id="{3C2C6344-BB93-43E4-BDF5-F8E36F7C213C}"/>
              </a:ext>
            </a:extLst>
          </p:cNvPr>
          <p:cNvSpPr>
            <a:spLocks noGrp="1"/>
          </p:cNvSpPr>
          <p:nvPr/>
        </p:nvSpPr>
        <p:spPr>
          <a:xfrm>
            <a:off x="857250" y="2324100"/>
            <a:ext cx="6000750" cy="542925"/>
          </a:xfrm>
          <a:prstGeom prst="rect">
            <a:avLst/>
          </a:prstGeom>
          <a:noFill/>
          <a:ln w="0">
            <a:noFill/>
          </a:ln>
        </p:spPr>
        <p:txBody>
          <a:bodyPr lIns="0" tIns="0" rIns="0" bIns="0" anchor="t">
            <a:noAutofit/>
          </a:bodyPr>
          <a:lstStyle/>
          <a:p>
            <a:pPr algn="l">
              <a:defRPr sz="1800" b="0">
                <a:solidFill>
                  <a:srgbClr val="000000"/>
                </a:solidFill>
                <a:latin typeface="Darley Sans"/>
                <a:ea typeface="Darley Sans"/>
                <a:cs typeface="Darley Sans"/>
              </a:defRPr>
            </a:pPr>
            <a:r>
              <a:rPr sz="1800" b="0">
                <a:solidFill>
                  <a:srgbClr val="000000"/>
                </a:solidFill>
                <a:latin typeface="Darley Sans"/>
                <a:ea typeface="Darley Sans"/>
                <a:cs typeface="Darley Sans"/>
              </a:rPr>
              <a:t>Find available books by title, price and condition.</a:t>
            </a:r>
          </a:p>
        </p:txBody>
      </p:sp>
      <p:sp>
        <p:nvSpPr>
          <p:cNvPr id="5" name="Solution heading 2">
            <a:extLst>
              <a:ext uri="{FF2B5EF4-FFF2-40B4-BE49-F238E27FC236}">
                <a16:creationId xmlns:a16="http://schemas.microsoft.com/office/drawing/2014/main" id="{364639A1-BA8D-4825-856E-B81443E358A0}"/>
              </a:ext>
            </a:extLst>
          </p:cNvPr>
          <p:cNvSpPr>
            <a:spLocks noGrp="1"/>
          </p:cNvSpPr>
          <p:nvPr/>
        </p:nvSpPr>
        <p:spPr>
          <a:xfrm>
            <a:off x="857250" y="2933700"/>
            <a:ext cx="6000750" cy="352425"/>
          </a:xfrm>
          <a:prstGeom prst="rect">
            <a:avLst/>
          </a:prstGeom>
          <a:noFill/>
          <a:ln w="0">
            <a:noFill/>
          </a:ln>
        </p:spPr>
        <p:txBody>
          <a:bodyPr lIns="0" tIns="0" rIns="0" bIns="0" anchor="t">
            <a:noAutofit/>
          </a:bodyPr>
          <a:lstStyle/>
          <a:p>
            <a:pPr algn="l">
              <a:defRPr sz="2100" b="1">
                <a:solidFill>
                  <a:srgbClr val="0070C0"/>
                </a:solidFill>
                <a:latin typeface="Darley Sans"/>
                <a:ea typeface="Darley Sans"/>
                <a:cs typeface="Darley Sans"/>
              </a:defRPr>
            </a:pPr>
            <a:r>
              <a:rPr sz="2100" b="1">
                <a:solidFill>
                  <a:srgbClr val="0070C0"/>
                </a:solidFill>
                <a:latin typeface="Darley Sans"/>
                <a:ea typeface="Darley Sans"/>
                <a:cs typeface="Darley Sans"/>
              </a:rPr>
              <a:t>Clear book details and seller reviews</a:t>
            </a:r>
          </a:p>
        </p:txBody>
      </p:sp>
      <p:sp>
        <p:nvSpPr>
          <p:cNvPr id="6" name="Solution detail 2">
            <a:extLst>
              <a:ext uri="{FF2B5EF4-FFF2-40B4-BE49-F238E27FC236}">
                <a16:creationId xmlns:a16="http://schemas.microsoft.com/office/drawing/2014/main" id="{3A239B01-2144-44B9-846A-0B619ACB939F}"/>
              </a:ext>
            </a:extLst>
          </p:cNvPr>
          <p:cNvSpPr>
            <a:spLocks noGrp="1"/>
          </p:cNvSpPr>
          <p:nvPr/>
        </p:nvSpPr>
        <p:spPr>
          <a:xfrm>
            <a:off x="857250" y="3305175"/>
            <a:ext cx="6000750" cy="542925"/>
          </a:xfrm>
          <a:prstGeom prst="rect">
            <a:avLst/>
          </a:prstGeom>
          <a:noFill/>
          <a:ln w="0">
            <a:noFill/>
          </a:ln>
        </p:spPr>
        <p:txBody>
          <a:bodyPr lIns="0" tIns="0" rIns="0" bIns="0" anchor="t">
            <a:noAutofit/>
          </a:bodyPr>
          <a:lstStyle/>
          <a:p>
            <a:pPr algn="l">
              <a:defRPr sz="1800" b="0">
                <a:solidFill>
                  <a:srgbClr val="000000"/>
                </a:solidFill>
                <a:latin typeface="Darley Sans"/>
                <a:ea typeface="Darley Sans"/>
                <a:cs typeface="Darley Sans"/>
              </a:defRPr>
            </a:pPr>
            <a:r>
              <a:rPr sz="1800" b="0">
                <a:solidFill>
                  <a:srgbClr val="000000"/>
                </a:solidFill>
                <a:latin typeface="Darley Sans"/>
                <a:ea typeface="Darley Sans"/>
                <a:cs typeface="Darley Sans"/>
              </a:rPr>
              <a:t>Moderated listings with photos and condition details.</a:t>
            </a:r>
          </a:p>
        </p:txBody>
      </p:sp>
      <p:sp>
        <p:nvSpPr>
          <p:cNvPr id="7" name="Solution heading 3">
            <a:extLst>
              <a:ext uri="{FF2B5EF4-FFF2-40B4-BE49-F238E27FC236}">
                <a16:creationId xmlns:a16="http://schemas.microsoft.com/office/drawing/2014/main" id="{C06602F9-1EBF-4690-8987-6B8ADDC18989}"/>
              </a:ext>
            </a:extLst>
          </p:cNvPr>
          <p:cNvSpPr>
            <a:spLocks noGrp="1"/>
          </p:cNvSpPr>
          <p:nvPr/>
        </p:nvSpPr>
        <p:spPr>
          <a:xfrm>
            <a:off x="857250" y="3914775"/>
            <a:ext cx="6000750" cy="352425"/>
          </a:xfrm>
          <a:prstGeom prst="rect">
            <a:avLst/>
          </a:prstGeom>
          <a:noFill/>
          <a:ln w="0">
            <a:noFill/>
          </a:ln>
        </p:spPr>
        <p:txBody>
          <a:bodyPr lIns="0" tIns="0" rIns="0" bIns="0" anchor="t">
            <a:noAutofit/>
          </a:bodyPr>
          <a:lstStyle/>
          <a:p>
            <a:pPr algn="l">
              <a:defRPr sz="2100" b="1">
                <a:solidFill>
                  <a:srgbClr val="0070C0"/>
                </a:solidFill>
                <a:latin typeface="Darley Sans"/>
                <a:ea typeface="Darley Sans"/>
                <a:cs typeface="Darley Sans"/>
              </a:defRPr>
            </a:pPr>
            <a:r>
              <a:rPr sz="2100" b="1">
                <a:solidFill>
                  <a:srgbClr val="0070C0"/>
                </a:solidFill>
                <a:latin typeface="Darley Sans"/>
                <a:ea typeface="Darley Sans"/>
                <a:cs typeface="Darley Sans"/>
              </a:rPr>
              <a:t>Exchange terms agreed in advance</a:t>
            </a:r>
          </a:p>
        </p:txBody>
      </p:sp>
      <p:sp>
        <p:nvSpPr>
          <p:cNvPr id="8" name="Solution detail 3">
            <a:extLst>
              <a:ext uri="{FF2B5EF4-FFF2-40B4-BE49-F238E27FC236}">
                <a16:creationId xmlns:a16="http://schemas.microsoft.com/office/drawing/2014/main" id="{6424A9E1-8233-4DB3-A65C-43E96656ACB8}"/>
              </a:ext>
            </a:extLst>
          </p:cNvPr>
          <p:cNvSpPr>
            <a:spLocks noGrp="1"/>
          </p:cNvSpPr>
          <p:nvPr/>
        </p:nvSpPr>
        <p:spPr>
          <a:xfrm>
            <a:off x="857250" y="4286250"/>
            <a:ext cx="6000750" cy="542925"/>
          </a:xfrm>
          <a:prstGeom prst="rect">
            <a:avLst/>
          </a:prstGeom>
          <a:noFill/>
          <a:ln w="0">
            <a:noFill/>
          </a:ln>
        </p:spPr>
        <p:txBody>
          <a:bodyPr lIns="0" tIns="0" rIns="0" bIns="0" anchor="t">
            <a:noAutofit/>
          </a:bodyPr>
          <a:lstStyle/>
          <a:p>
            <a:pPr algn="l">
              <a:defRPr sz="1800" b="0">
                <a:solidFill>
                  <a:srgbClr val="000000"/>
                </a:solidFill>
                <a:latin typeface="Darley Sans"/>
                <a:ea typeface="Darley Sans"/>
                <a:cs typeface="Darley Sans"/>
              </a:defRPr>
            </a:pPr>
            <a:r>
              <a:rPr sz="1800" b="0">
                <a:solidFill>
                  <a:srgbClr val="000000"/>
                </a:solidFill>
                <a:latin typeface="Darley Sans"/>
                <a:ea typeface="Darley Sans"/>
                <a:cs typeface="Darley Sans"/>
              </a:rPr>
              <a:t>See book values, deposits and any cash difference.</a:t>
            </a:r>
          </a:p>
        </p:txBody>
      </p:sp>
      <p:sp>
        <p:nvSpPr>
          <p:cNvPr id="9" name="Solution heading 4">
            <a:extLst>
              <a:ext uri="{FF2B5EF4-FFF2-40B4-BE49-F238E27FC236}">
                <a16:creationId xmlns:a16="http://schemas.microsoft.com/office/drawing/2014/main" id="{61B63813-83EC-4F8B-BEA1-D19621359197}"/>
              </a:ext>
            </a:extLst>
          </p:cNvPr>
          <p:cNvSpPr>
            <a:spLocks noGrp="1"/>
          </p:cNvSpPr>
          <p:nvPr/>
        </p:nvSpPr>
        <p:spPr>
          <a:xfrm>
            <a:off x="857250" y="4895850"/>
            <a:ext cx="6000750" cy="352425"/>
          </a:xfrm>
          <a:prstGeom prst="rect">
            <a:avLst/>
          </a:prstGeom>
          <a:noFill/>
          <a:ln w="0">
            <a:noFill/>
          </a:ln>
        </p:spPr>
        <p:txBody>
          <a:bodyPr lIns="0" tIns="0" rIns="0" bIns="0" anchor="t">
            <a:noAutofit/>
          </a:bodyPr>
          <a:lstStyle/>
          <a:p>
            <a:pPr algn="l">
              <a:defRPr sz="2100" b="1">
                <a:solidFill>
                  <a:srgbClr val="0070C0"/>
                </a:solidFill>
                <a:latin typeface="Darley Sans"/>
                <a:ea typeface="Darley Sans"/>
                <a:cs typeface="Darley Sans"/>
              </a:defRPr>
            </a:pPr>
            <a:r>
              <a:rPr sz="2100" b="1">
                <a:solidFill>
                  <a:srgbClr val="0070C0"/>
                </a:solidFill>
                <a:latin typeface="Darley Sans"/>
                <a:ea typeface="Darley Sans"/>
                <a:cs typeface="Darley Sans"/>
              </a:rPr>
              <a:t>A controlled transaction process</a:t>
            </a:r>
          </a:p>
        </p:txBody>
      </p:sp>
      <p:sp>
        <p:nvSpPr>
          <p:cNvPr id="10" name="Solution detail 4">
            <a:extLst>
              <a:ext uri="{FF2B5EF4-FFF2-40B4-BE49-F238E27FC236}">
                <a16:creationId xmlns:a16="http://schemas.microsoft.com/office/drawing/2014/main" id="{DF7CC8BA-9FDF-44DC-9B49-3B3BC417C8C1}"/>
              </a:ext>
            </a:extLst>
          </p:cNvPr>
          <p:cNvSpPr>
            <a:spLocks noGrp="1"/>
          </p:cNvSpPr>
          <p:nvPr/>
        </p:nvSpPr>
        <p:spPr>
          <a:xfrm>
            <a:off x="857250" y="5267325"/>
            <a:ext cx="6000750" cy="542925"/>
          </a:xfrm>
          <a:prstGeom prst="rect">
            <a:avLst/>
          </a:prstGeom>
          <a:noFill/>
          <a:ln w="0">
            <a:noFill/>
          </a:ln>
        </p:spPr>
        <p:txBody>
          <a:bodyPr lIns="0" tIns="0" rIns="0" bIns="0" anchor="t">
            <a:noAutofit/>
          </a:bodyPr>
          <a:lstStyle/>
          <a:p>
            <a:pPr algn="l">
              <a:defRPr sz="1800" b="0">
                <a:solidFill>
                  <a:srgbClr val="000000"/>
                </a:solidFill>
                <a:latin typeface="Darley Sans"/>
                <a:ea typeface="Darley Sans"/>
                <a:cs typeface="Darley Sans"/>
              </a:defRPr>
            </a:pPr>
            <a:r>
              <a:rPr sz="1800" b="0">
                <a:solidFill>
                  <a:srgbClr val="000000"/>
                </a:solidFill>
                <a:latin typeface="Darley Sans"/>
                <a:ea typeface="Darley Sans"/>
                <a:cs typeface="Darley Sans"/>
              </a:rPr>
              <a:t>Track delivery, hold funds and review dispute evidence.</a:t>
            </a:r>
          </a:p>
        </p:txBody>
      </p:sp>
      <p:pic>
        <p:nvPicPr>
          <p:cNvPr id="23" name=""/>
          <p:cNvPicPr>
            <a:picLocks noChangeAspect="1"/>
          </p:cNvPicPr>
          <p:nvPr/>
        </p:nvPicPr>
        <p:blipFill>
          <a:blip r:embed="Rc622758520474dae"/>
          <a:stretch/>
        </p:blipFill>
        <p:spPr>
          <a:xfrm>
            <a:off x="7077075" y="1743075"/>
            <a:ext cx="4572000" cy="4572000"/>
          </a:xfrm>
          <a:prstGeom prst="rect">
            <a:avLst/>
          </a:prstGeom>
        </p:spPr>
      </p:pic>
      <p:sp>
        <p:nvSpPr>
          <p:cNvPr id="12" name="Prototype scope">
            <a:extLst>
              <a:ext uri="{FF2B5EF4-FFF2-40B4-BE49-F238E27FC236}">
                <a16:creationId xmlns:a16="http://schemas.microsoft.com/office/drawing/2014/main" id="{5C20B688-7483-4777-969A-48FDC0DAC4B7}"/>
              </a:ext>
            </a:extLst>
          </p:cNvPr>
          <p:cNvSpPr>
            <a:spLocks noGrp="1"/>
          </p:cNvSpPr>
          <p:nvPr/>
        </p:nvSpPr>
        <p:spPr>
          <a:xfrm>
            <a:off x="857250" y="6076950"/>
            <a:ext cx="10477500" cy="257175"/>
          </a:xfrm>
          <a:prstGeom prst="rect">
            <a:avLst/>
          </a:prstGeom>
          <a:noFill/>
          <a:ln w="0">
            <a:noFill/>
          </a:ln>
        </p:spPr>
        <p:txBody>
          <a:bodyPr lIns="0" tIns="0" rIns="0" bIns="0" anchor="t">
            <a:noAutofit/>
          </a:bodyPr>
          <a:lstStyle/>
          <a:p>
            <a:pPr algn="l">
              <a:defRPr sz="1425" b="0">
                <a:solidFill>
                  <a:srgbClr val="555555"/>
                </a:solidFill>
                <a:latin typeface="Darley Sans"/>
                <a:ea typeface="Darley Sans"/>
                <a:cs typeface="Darley Sans"/>
              </a:defRPr>
            </a:pPr>
            <a:r>
              <a:rPr sz="1425" b="0">
                <a:solidFill>
                  <a:srgbClr val="555555"/>
                </a:solidFill>
                <a:latin typeface="Darley Sans"/>
                <a:ea typeface="Darley Sans"/>
                <a:cs typeface="Darley Sans"/>
              </a:rPr>
              <a:t>Prototype scope: simulated payments and delivery events.</a:t>
            </a:r>
          </a:p>
        </p:txBody>
      </p:sp>
    </p:spTree>
    <p:extLst>
      <p:ext uri="{BB962C8B-B14F-4D97-AF65-F5344CB8AC3E}">
        <p14:creationId xmlns:p14="http://schemas.microsoft.com/office/powerpoint/2010/main" val="14666829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Tree>
    <p:extLst>
      <p:ext uri="{BB962C8B-B14F-4D97-AF65-F5344CB8AC3E}">
        <p14:creationId xmlns:p14="http://schemas.microsoft.com/office/powerpoint/2010/main" val="1654876784"/>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92</Words>
  <Application>Microsoft Office PowerPoint</Application>
  <PresentationFormat>Widescreen</PresentationFormat>
  <Paragraphs>19</Paragraphs>
  <Slides>4</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Darley Sans</vt:lpstr>
      <vt:lpstr>Times New Roman</vt:lpstr>
      <vt:lpstr>Office Theme</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ADMIN</dc:creator>
  <cp:lastModifiedBy>Nguyễn Huy Hoàng</cp:lastModifiedBy>
  <cp:revision>3</cp:revision>
  <dcterms:created xsi:type="dcterms:W3CDTF">2021-01-25T08:25:31Z</dcterms:created>
  <dcterms:modified xsi:type="dcterms:W3CDTF">2026-09-20T16:20:14Z</dcterms:modified>
</cp:coreProperties>
</file>